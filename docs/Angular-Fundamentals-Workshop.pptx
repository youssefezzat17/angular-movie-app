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Before diving in, give a 5-minute live tour of the running Nightfall Stream app so every concept has a visual anchor.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real app live if possible (npm start). The screenshot here is the actual Home page render — same markup, same data, same Tailwind classes as the running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before naming the solution — static markup vs. live product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simple: interpolation is a one-way read from the component into the DOM as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name and description on the real card come straight from these two interpolation bindings — zoomed screenshot of the actual rendered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nav bar counters are interpolation too — reading signal values straight out of CartService and FavoritesService.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interpolation: brackets target a property, not text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sold-out card in the Browse screenshot on the next module recap for the disabled-button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binding closes the loop — user action into component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screenshot is a real click result: the Watchlist counter is now 1 and the toast confirms the exact message the component builds.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"Banana in a box" — the mnemonic students remember: ( ) inside [ 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right-hand aside is bound to the exact same `user` object the form inputs write into — no extra wiring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binding type students just learned is visible on this single real card,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learners 8-10 minutes. Then reveal the real toggleFavorite() implementation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slide into Module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transform-for-display idea before naming pipes.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mental model: a pipeline of small text transforms, applied at render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are used on the real product card and product-details page — next slides show exactly 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pipe, three different named formats depending on where it’s used in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manual toFixed(2) or string concatenation — the pipe handles rounding and the currency symbol.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MOVIE badge is uppercase; #sci-fi tag chips are lowercase — same product data, two different pipes.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 pipes are just classes implementing PipeTransform — nothing exotic.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it’s registered as standalone: true, then imported directly into each component that uses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exercise reuses the exact PipeTransform pattern just shown for stockStatus.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slide into Module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SPA problem before showing the Router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real routes top to bottom before showing the raw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route also sets a title string in the real file — worth a mention for SEO/tab-title awareness.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Router reads the current URL, matches it against app.routes.ts, and renders the matching component inside &lt;router-outlet&gt;.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routerLink replaces a plain href — no full-page reload. routerLinkActive styles the currently active link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screenshot with the Browse route active.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programmatic navigation when the destination is computed, or navigation happens as a side effect of other logic (like after adding to cart).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/products/25 is a real, working URL in the app — id 25 is "The Last Horizon" in the real product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 as "the component's way of asking: which URL got me rendered, and what was in it?"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live screenshot of the real /products/25 route — "MOVIE · Product #25", matching the id read from the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app.routes.ts exactly — six entries, five reachable pages plus the wildcard catch-all.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reinforces route matching order and programmatic navigation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slide into the capstone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intentionally under-specified on markup — students should recognize and reapply patterns from all three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Favorites is already implemented in the real app — use it as the answer key after students attempt their own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pointing at the real, running app one more time — everything taught today is already shipped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1B144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206240"/>
            <a:ext cx="5029200" cy="5029200"/>
          </a:xfrm>
          <a:prstGeom prst="ellipse">
            <a:avLst/>
          </a:prstGeom>
          <a:solidFill>
            <a:srgbClr val="190E3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ANGULAR WORKSHOP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 Fundamentals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Binding</a:t>
            </a:r>
            <a:pPr algn="l" indent="0" marL="0">
              <a:buNone/>
            </a:pPr>
            <a:r>
              <a:rPr lang="en-US" sz="22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</a:t>
            </a:r>
            <a:pPr algn="l" indent="0" marL="0">
              <a:buNone/>
            </a:pPr>
            <a:r>
              <a:rPr lang="en-US" sz="22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 live inside a real, running Angular application — Nightfall Stream, a movie &amp; series watchlist.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709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fresh graduates &amp; junior developers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know HTML, CSS, JS &amp; basic TypeScript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Fundamentals Workshop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41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WRITE A LINE OF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app we’ll be building with.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Nightfall Stream — a real, already-implemented Angular app, not a slide mockup.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binding, pipe, and route you see today exists in this exact codebase.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Browse, Title Details, Profile, and My List — five pages, one shared navigation.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We’ll flip between these slides and the real app all workshop long.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36208" y="1115568"/>
            <a:ext cx="5404104" cy="5266944"/>
          </a:xfrm>
          <a:prstGeom prst="roundRect">
            <a:avLst>
              <a:gd name="adj" fmla="val 1042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tmp/render/shots/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188720"/>
            <a:ext cx="525780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41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46304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8B5CF6">
              <a:alpha val="16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502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234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HTML can’t keep up with changing data.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080" y="2377440"/>
            <a:ext cx="6766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HTML product card has to be hand-edited every time the name, price, or stock changes.</a:t>
            </a:r>
            <a:endParaRPr lang="en-US" sz="160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apps show live data: prices update, stock runs out, users type into forms.</a:t>
            </a:r>
            <a:endParaRPr lang="en-US" sz="160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way to connect TypeScript data straight into the HTML template — in both directions.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55280" y="23774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260604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&lt;h3&gt;Product Name&lt;/h3&gt;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&lt;p&gt;$0.00&lt;/p&gt;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Frozen. Never updates.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Data Binding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41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Interpolation: { { } }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curly braces read a TypeScript value and print it as text inside the template.</a:t>
            </a:r>
            <a:endParaRPr lang="en-US" sz="150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re-renders it automatically whenever the underlying data changes.</a:t>
            </a:r>
            <a:endParaRPr lang="en-US" sz="150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works for text content — not attributes (that’s next).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228600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product.name</a:t>
            </a:r>
            <a:pPr indent="0" marL="0">
              <a:buNone/>
            </a:pPr>
            <a:r>
              <a:rPr lang="en-US" sz="14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 TypeScript data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3246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product.name }}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as → The Last Horizon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Data Binding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41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Interpolation, in the real card template.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5394960" cy="2606040"/>
          </a:xfrm>
          <a:prstGeom prst="roundRect">
            <a:avLst>
              <a:gd name="adj" fmla="val 3158"/>
            </a:avLst>
          </a:prstGeom>
          <a:solidFill>
            <a:srgbClr val="0B0A16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331720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2331720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0160" y="2331720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258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product-card.component.ts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 class="mt-4 text-lg font-bold"&gt;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product.name }}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&lt;/h3&gt;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class="mt-1 text-sm text-slate-400"&gt;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product.description }}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10528" y="1298448"/>
            <a:ext cx="5129784" cy="5084064"/>
          </a:xfrm>
          <a:prstGeom prst="roundRect">
            <a:avLst>
              <a:gd name="adj" fmla="val 1079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0" descr="/tmp/render/shots/card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371600"/>
            <a:ext cx="4983480" cy="4937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Data Binding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Everywhere on Products, this pattern repeats.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 and description — every card, Home and Products alike.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Watchlist and My List counters in the nav bar.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user’s name and email on the Profile preview panel.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6208" y="2212848"/>
            <a:ext cx="5404104" cy="1060704"/>
          </a:xfrm>
          <a:prstGeom prst="roundRect">
            <a:avLst>
              <a:gd name="adj" fmla="val 5172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4" name="Image 0" descr="/tmp/render/shots/navbar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2286000"/>
            <a:ext cx="5257800" cy="9144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309360" y="33832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cart.count() }}   ·   {{ favorites.ids().length }}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008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src/app/core/layout/navbar.component.ts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Data Binding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41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binding: [ ]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 only prints text — it can’t set an image source or disable a button.</a:t>
            </a:r>
            <a:endParaRPr lang="en-US" sz="150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brackets bind a DOM property directly to a TypeScript expression.</a:t>
            </a:r>
            <a:endParaRPr lang="en-US" sz="150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element updates live whenever that expression changes.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2286000"/>
            <a:ext cx="5257800" cy="2377440"/>
          </a:xfrm>
          <a:prstGeom prst="roundRect">
            <a:avLst>
              <a:gd name="adj" fmla="val 3077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5146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[src]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="product.imageUrl"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[disabled]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="product.stock === 0"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Data Binding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41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image + a button that disables itself.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0B0A16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331720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2331720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0160" y="2331720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258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product-card.component.ts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4846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[src]="product.imageUrl"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[alt]="product.name"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class="h-52 w-full object-cover" /&gt;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[disabled]="product.stock === 0"&gt;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to watchlist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10528" y="1298448"/>
            <a:ext cx="5129784" cy="5084064"/>
          </a:xfrm>
          <a:prstGeom prst="roundRect">
            <a:avLst>
              <a:gd name="adj" fmla="val 1079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0" descr="/tmp/render/shots/card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371600"/>
            <a:ext cx="4983480" cy="4937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52578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"Wildflower House" (Browse page) is sold out — its button is greyed out and disabled, live.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Data Binding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41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binding: ( )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far, data flows one way: component → template.</a:t>
            </a:r>
            <a:endParaRPr lang="en-US" sz="150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Parentheses listen for a DOM event and call a component method when it fires.</a:t>
            </a:r>
            <a:endParaRPr lang="en-US" sz="150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a click, a keystroke, or a submit becomes real app behavior.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228600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834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(click)="toggleFavorite()"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8368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the heart  →  method runs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Data Binding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41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Clicking "Add to watchlist" — for real.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0B0A16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331720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2331720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0160" y="2331720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258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product-card.component.ts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4846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(click)="addToCart(product)"&gt;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to watchlist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addToCart(product: Product): void {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this.cart.add(product);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this.toast.show(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`${product.name} added to your watchlist`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10528" y="1344168"/>
            <a:ext cx="5129784" cy="4901184"/>
          </a:xfrm>
          <a:prstGeom prst="roundRect">
            <a:avLst>
              <a:gd name="adj" fmla="val 1119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0" descr="/tmp/render/shots/products-toa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417320"/>
            <a:ext cx="4983480" cy="47548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Data Binding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41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Two-way binding: [ ( ) ]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 needs both directions at once: show the current value AND update it as the user types.</a:t>
            </a:r>
            <a:endParaRPr lang="en-US" sz="150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property binding + event binding fused into one syntax — the "banana in a box".</a:t>
            </a:r>
            <a:endParaRPr lang="en-US" sz="150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[(ngModel)] needs FormsModule imported into the standalone component.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23774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926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[(ngModel)]="user.name"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8368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the field  →  preview updates instantly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Data Binding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41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Profile form, live-previewing itself.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0B0A16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331720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2331720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0160" y="2331720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258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profile.component.ts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4846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imports: [FormsModule, DatePipe]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[(ngModel)]="user.name" name="name" /&gt;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&lt;h2&gt;{{ user.name }}&lt;/h2&gt;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&lt;p&gt;{{ user.email }}&lt;/p&gt;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10528" y="1298448"/>
            <a:ext cx="5129784" cy="5084064"/>
          </a:xfrm>
          <a:prstGeom prst="roundRect">
            <a:avLst>
              <a:gd name="adj" fmla="val 1079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0" descr="/tmp/render/shots/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371600"/>
            <a:ext cx="4983480" cy="4937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Data Binding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41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bindings, one product card.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66928" y="2075688"/>
            <a:ext cx="4078224" cy="4169664"/>
          </a:xfrm>
          <a:prstGeom prst="roundRect">
            <a:avLst>
              <a:gd name="adj" fmla="val 1345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3" name="Image 0" descr="/tmp/render/shots/card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48840"/>
            <a:ext cx="3931920" cy="40233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846320" y="22860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}}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126480" y="22860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description text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46320" y="32461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126480" y="32461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binding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src, disabled state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846320" y="42062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126480" y="42062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binding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Add-to-watchlist, favorite toggle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846320" y="51663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 )]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126480" y="51663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binding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form (not on this card)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Data Binding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41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3736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502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234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exercise: wire up the wishlist heart.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2286000"/>
            <a:ext cx="9875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(click) on the heart button to call toggleFavorite() — it already exists on ProductCardComponent.</a:t>
            </a:r>
            <a:endParaRPr lang="en-US" sz="16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[class.text-rose-400] to swap the heart’s color when favorited.has(product.id) is true.</a:t>
            </a:r>
            <a:endParaRPr lang="en-US" sz="16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live count with {{ favorites.ids().length }} in the nav bar.</a:t>
            </a:r>
            <a:endParaRPr lang="en-US" sz="16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Reveal: this is exactly what product-card.component.ts already does — compare your solution to it.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Data Binding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41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 — one-way, component to text</a:t>
            </a:r>
            <a:endParaRPr lang="en-US" sz="1700" dirty="0"/>
          </a:p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— one-way, component to any DOM property</a:t>
            </a:r>
            <a:endParaRPr lang="en-US" sz="1700" dirty="0"/>
          </a:p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) — one-way, DOM event to component method</a:t>
            </a:r>
            <a:endParaRPr lang="en-US" sz="1700" dirty="0"/>
          </a:p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[( )] — both directions, fused, needs FormsModule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675120" y="2011680"/>
            <a:ext cx="4892040" cy="2926080"/>
          </a:xfrm>
          <a:prstGeom prst="roundRect">
            <a:avLst>
              <a:gd name="adj" fmla="val 2500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2286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49440" y="26060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949440" y="32461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isn’t presentable on its own — dates, prices, and text need formatting before users should see them.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Data Binding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41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46304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BBF24">
              <a:alpha val="16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502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234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 is correct. It just isn’t readable.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22860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product.addedOn stores "2026-01-12" — a machine-friendly ISO date.</a:t>
            </a:r>
            <a:endParaRPr lang="en-US" sz="160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product.price stores 8.5 — a plain number, no currency symbol.</a:t>
            </a:r>
            <a:endParaRPr lang="en-US" sz="160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transform values for display, without changing the underlying data.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83680" y="2286000"/>
            <a:ext cx="4983480" cy="2286000"/>
          </a:xfrm>
          <a:prstGeom prst="roundRect">
            <a:avLst>
              <a:gd name="adj" fmla="val 3200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51460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</a:rPr>
              <a:t>RAW</a:t>
            </a:r>
            <a:endParaRPr lang="en-US" sz="1100" dirty="0"/>
          </a:p>
          <a:p>
            <a:pPr indent="0" marL="0">
              <a:buNone/>
            </a:pPr>
            <a:r>
              <a:rPr lang="en-US" sz="180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2026-01-12</a:t>
            </a:r>
            <a:endParaRPr lang="en-US" sz="1100" dirty="0"/>
          </a:p>
          <a:p>
            <a:pPr indent="0" marL="0">
              <a:buNone/>
            </a:pPr>
            <a:r>
              <a:rPr lang="en-US" sz="180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FORMATTED</a:t>
            </a:r>
            <a:endParaRPr lang="en-US" sz="1100" dirty="0"/>
          </a:p>
          <a:p>
            <a:pPr indent="0" marL="0">
              <a:buNone/>
            </a:pPr>
            <a:r>
              <a:rPr lang="en-US" sz="180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12, 2026</a:t>
            </a:r>
            <a:endParaRPr lang="en-US" sz="1100" dirty="0"/>
          </a:p>
          <a:p>
            <a:pPr indent="0" marL="0">
              <a:buNone/>
            </a:pPr>
            <a:r>
              <a:rPr lang="en-US" sz="180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$8.50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Pipes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41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pipe is a small transform, right in the template.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88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algn="ctr" indent="0" marL="0">
              <a:buNone/>
            </a:pPr>
            <a:r>
              <a:rPr lang="en-US" sz="3400" b="1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</a:t>
            </a:r>
            <a:pPr algn="ctr"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pipeName</a:t>
            </a:r>
            <a:pPr algn="ctr" indent="0" marL="0">
              <a:buNone/>
            </a:pPr>
            <a:r>
              <a:rPr lang="en-US" sz="3400" b="1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:arg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0080" y="434340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vertical bar "pipes" a value through a small, single-purpose transform function.</a:t>
            </a:r>
            <a:endParaRPr lang="en-US" sz="15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ships several built-in pipes; you can also write your own (coming up).</a:t>
            </a:r>
            <a:endParaRPr lang="en-US" sz="15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never mutate the original data — they only change what’s displayed.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Pipes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41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pipes we’ll use today.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0175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price | currency }}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$8.50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429000" y="228600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11880" y="30175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addedOn | date:'mediumDate' }}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11880" y="4572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12, 2026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228600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uppercase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30175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category | uppercase }}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4572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006840" y="228600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89720" y="30175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tag | lowercase }}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89720" y="4572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#sci-fi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Pipes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41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pipe: three format strings, three moods.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5394960" cy="3749040"/>
          </a:xfrm>
          <a:prstGeom prst="roundRect">
            <a:avLst>
              <a:gd name="adj" fmla="val 2195"/>
            </a:avLst>
          </a:prstGeom>
          <a:solidFill>
            <a:srgbClr val="0B0A16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331720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2331720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0160" y="2331720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258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various component templates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4846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product.addedOn | date:'mediumDate' }}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Jan 12, 2026     (product cards)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product.addedOn | date:'fullDate' }}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Monday, January 12, 2026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(title details)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user.memberSince | date:'longDate' }}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August 16, 2003   (profile preview)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10528" y="1389888"/>
            <a:ext cx="5129784" cy="2066544"/>
          </a:xfrm>
          <a:prstGeom prst="roundRect">
            <a:avLst>
              <a:gd name="adj" fmla="val 2655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0" descr="/tmp/render/shots/pipes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463040"/>
            <a:ext cx="4983480" cy="19202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583680" y="35661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"Added on Jan 12, 2026" — real, rendered dateMedium output on the card.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Pipes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41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 pipe: one word, correct formatting.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0B0A16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331720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2331720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0160" y="2331720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258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product-card.component.ts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4846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 class="text-xl"&gt;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product.price | currency }}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&lt;/strong&gt;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8.5  becomes  $8.50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  becomes  $11.00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10528" y="1389888"/>
            <a:ext cx="5129784" cy="2066544"/>
          </a:xfrm>
          <a:prstGeom prst="roundRect">
            <a:avLst>
              <a:gd name="adj" fmla="val 2655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0" descr="/tmp/render/shots/pipes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463040"/>
            <a:ext cx="4983480" cy="19202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583680" y="35661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price across Home, Products, Details, and Favorites uses this single pipe.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Pipes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41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Text-case pipes: badges vs. tags.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0B0A16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331720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2331720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0160" y="2331720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258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product-card.component.ts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4846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class="... text-violet-300"&gt;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product.category | uppercase }}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&lt;/span&gt;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class="text-xs text-slate-500"&gt;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#{{ tag | lowercase }}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&lt;/span&gt;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10528" y="1298448"/>
            <a:ext cx="5129784" cy="5084064"/>
          </a:xfrm>
          <a:prstGeom prst="roundRect">
            <a:avLst>
              <a:gd name="adj" fmla="val 1079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0" descr="/tmp/render/shots/card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371600"/>
            <a:ext cx="4983480" cy="4937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Pipes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41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built-in pipe knows "stock status".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business-specific logic: turn a raw stock number into a human label.</a:t>
            </a:r>
            <a:endParaRPr lang="en-US" sz="165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passes → "Unavailable". Under 5 → "Limited passes". Otherwise → "Available now".</a:t>
            </a:r>
            <a:endParaRPr lang="en-US" sz="165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Angular’s built-ins don’t cover a case, you write your own pipe — a plain class.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Pipes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41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stockStatus — the app’s one custom pipe.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0B0A16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331720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2331720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0160" y="2331720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258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src/app/pipes/stock-status.pipe.ts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4846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@Pipe({ name: 'stockStatus', standalone: true })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StockStatusPipe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implements PipeTransform {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transform(stock: number): string {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(stock === 0) return 'Unavailable';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(stock &lt; 5) return 'Limited passes';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'Available now';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10528" y="1389888"/>
            <a:ext cx="5129784" cy="2066544"/>
          </a:xfrm>
          <a:prstGeom prst="roundRect">
            <a:avLst>
              <a:gd name="adj" fmla="val 2655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0" descr="/tmp/render/shots/pipes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463040"/>
            <a:ext cx="4983480" cy="19202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583680" y="36576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product.stock | stockStatus }}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583680" y="42062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"Available now", amber "Limited passes", rose "Unavailable" — color comes from a class binding alongside it.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Pipes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41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3736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502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234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exercise: format a date, build a pipe.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2286000"/>
            <a:ext cx="9875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Profile, change the "Member since" pipe format from longDate to mediumDate — compare the output.</a:t>
            </a:r>
            <a:endParaRPr lang="en-US" sz="16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second custom pipe, initials, that turns a full name into avatar initials ("CR").</a:t>
            </a:r>
            <a:endParaRPr lang="en-US" sz="16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it standalone: true and import it into ProfileComponent to try it on user.name.</a:t>
            </a:r>
            <a:endParaRPr lang="en-US" sz="16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Reveal: compare your transform() logic to the real StockStatusPipe’s structure.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Pipes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41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— 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| pipeName — transforms display, never the source data</a:t>
            </a:r>
            <a:endParaRPr lang="en-US" sz="165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currency, uppercase, lowercase ship with Angular</a:t>
            </a:r>
            <a:endParaRPr lang="en-US" sz="165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pipe is a class with @Pipe() and a transform() method</a:t>
            </a:r>
            <a:endParaRPr lang="en-US" sz="165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stockStatus turns a number into a business-meaningful label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675120" y="2011680"/>
            <a:ext cx="4892040" cy="2926080"/>
          </a:xfrm>
          <a:prstGeom prst="roundRect">
            <a:avLst>
              <a:gd name="adj" fmla="val 2500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2286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49440" y="26060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949440" y="324612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HTML page, five different screens. How does Nightfall Stream move between Home, Browse, and a specific title’s details?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Pipes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41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46304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502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234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index.html. Five different screens.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237744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Nightfall Stream never reloads the page — Home, Browse, Details, Profile, My List all live in one bundle.</a:t>
            </a:r>
            <a:endParaRPr lang="en-US" sz="160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URL still needs to change, be bookmarkable, and support the browser’s back button.</a:t>
            </a:r>
            <a:endParaRPr lang="en-US" sz="160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client-side routing: Angular’s Router swaps components in and out based on the URL.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Routing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41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route is just a path-to-component map.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10881360" cy="3108960"/>
          </a:xfrm>
          <a:prstGeom prst="roundRect">
            <a:avLst>
              <a:gd name="adj" fmla="val 2647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606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49040" y="26060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97680" y="26060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HomeComponent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0449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'products'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3044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7680" y="30449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ProductsComponent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4838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'products/:id'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49040" y="34838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97680" y="34838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ProductDetailsComponent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9227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'profile'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49040" y="39227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97680" y="392277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ProfileComponent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361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'favorites'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49040" y="43616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97680" y="43616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FavoritesComponent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800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'**'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749040" y="4800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297680" y="4800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NotFoundComponent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Routing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41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app.routes.ts — the real route table.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10881360" cy="4023360"/>
          </a:xfrm>
          <a:prstGeom prst="roundRect">
            <a:avLst>
              <a:gd name="adj" fmla="val 2045"/>
            </a:avLst>
          </a:prstGeom>
          <a:solidFill>
            <a:srgbClr val="0B0A16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331720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2331720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0160" y="2331720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25856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src/app/app.routes.ts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103327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routes: Routes = [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path: '', component: HomeComponent },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path: 'products', component: ProductsComponent },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path: 'products/:id',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component: ProductDetailsComponent },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path: 'profile', component: ProfileComponent },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path: 'favorites', component: FavoritesComponent },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path: '**', component: NotFoundComponent },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Routing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41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RouterOutlet: the slot content swaps into.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5394960" cy="2468880"/>
          </a:xfrm>
          <a:prstGeom prst="roundRect">
            <a:avLst>
              <a:gd name="adj" fmla="val 3333"/>
            </a:avLst>
          </a:prstGeom>
          <a:solidFill>
            <a:srgbClr val="0B0A16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331720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2331720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0160" y="2331720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258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src/app/app.html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&lt;app-navbar /&gt;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&lt;router-outlet /&gt;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&lt;app-toast /&gt;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3680" y="2148840"/>
            <a:ext cx="4983480" cy="2468880"/>
          </a:xfrm>
          <a:prstGeom prst="roundRect">
            <a:avLst>
              <a:gd name="adj" fmla="val 2963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42316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app-navbar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stays fixed on every page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&lt;router-outlet /&gt;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where Home, Products, etc. get inserted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Routing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41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RouterLink: navigation without a page reload.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10881360" cy="4023360"/>
          </a:xfrm>
          <a:prstGeom prst="roundRect">
            <a:avLst>
              <a:gd name="adj" fmla="val 2045"/>
            </a:avLst>
          </a:prstGeom>
          <a:solidFill>
            <a:srgbClr val="0B0A16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331720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2331720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0160" y="2331720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25856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src/app/core/layout/navbar.component.ts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103327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routerLink="/products"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routerLinkActive="text-violet-400"&gt;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Browse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routerLink="/"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routerLinkActive="text-violet-400"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[routerLinkActiveOptions]="{exact:true}"&gt;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Home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Routing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41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nav bar always knows where you are.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566928" y="2304288"/>
            <a:ext cx="11027664" cy="1517904"/>
          </a:xfrm>
          <a:prstGeom prst="roundRect">
            <a:avLst>
              <a:gd name="adj" fmla="val 3614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3" name="Image 0" descr="/tmp/render/shots/navbar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377440"/>
            <a:ext cx="10881360" cy="1371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411480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"Browse" lights up violet — routerLinkActive matched the current URL.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uses [routerLinkActiveOptions]="{exact:true}" so it isn’t active on every sub-route.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bar renders identically on all five pages.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Routing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41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Sometimes you navigate from code, not a link.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0B0A16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331720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2331720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0160" y="2331720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258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product-card.component.ts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4846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router = inject(Router);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viewDetails(): void {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this.router.navigate(['/products',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this.product.id]);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3680" y="2148840"/>
            <a:ext cx="4983480" cy="1554480"/>
          </a:xfrm>
          <a:prstGeom prst="roundRect">
            <a:avLst>
              <a:gd name="adj" fmla="val 5294"/>
            </a:avLst>
          </a:prstGeom>
          <a:solidFill>
            <a:srgbClr val="0B0A16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84848" y="2331720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0" name="Shape 18"/>
          <p:cNvSpPr/>
          <p:nvPr/>
        </p:nvSpPr>
        <p:spPr>
          <a:xfrm>
            <a:off x="7004304" y="2331720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Shape 19"/>
          <p:cNvSpPr/>
          <p:nvPr/>
        </p:nvSpPr>
        <p:spPr>
          <a:xfrm>
            <a:off x="7223760" y="2331720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22585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product-details.component.ts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0" y="265176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backToProducts(): void {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this.router.navigate(['/products']);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83680" y="39319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"Details" button and "Back to Products" both call Router.navigate() instead of using routerLink.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Routing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41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parameters: one route, many titles.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want a hand-written route for every single title in the catalog.</a:t>
            </a:r>
            <a:endParaRPr lang="en-US" sz="150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colon marks a segment of the URL as a variable Angular captures for us.</a:t>
            </a:r>
            <a:endParaRPr lang="en-US" sz="150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products/:id matches products/25, products/26, products/30 — anything.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2286000"/>
            <a:ext cx="5257800" cy="2377440"/>
          </a:xfrm>
          <a:prstGeom prst="roundRect">
            <a:avLst>
              <a:gd name="adj" fmla="val 3077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560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products/</a:t>
            </a:r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:id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83680" y="3246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products/</a:t>
            </a:r>
            <a:pPr indent="0" marL="0">
              <a:buNone/>
            </a:pPr>
            <a:r>
              <a:rPr lang="en-US" sz="24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83680" y="3886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Last Horizon’s Title Details page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Routing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41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ActivatedRoute reads that captured parameter.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ActivatedRoute is a service Angular injects with details about the current route.</a:t>
            </a:r>
            <a:endParaRPr lang="en-US" sz="160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paramMap holds every :param segment matched for this navigation.</a:t>
            </a:r>
            <a:endParaRPr lang="en-US" sz="160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ProductDetailsComponent reads the id, then asks ProductService for that exact product.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Routing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41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/products/25 resolves to a real product.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0B0A16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331720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2331720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0160" y="2331720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258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product-details.component.ts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4846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route = inject(ActivatedRoute);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products = inject(ProductService);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product = this.products.getById(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Number(this.route.snapshot.paramMap.get('id'))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10528" y="1344168"/>
            <a:ext cx="5129784" cy="4992624"/>
          </a:xfrm>
          <a:prstGeom prst="roundRect">
            <a:avLst>
              <a:gd name="adj" fmla="val 1099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0" descr="/tmp/render/shots/product-details-2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417320"/>
            <a:ext cx="4983480" cy="4846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Routing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41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five pages connect.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12101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43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08960" y="274320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12101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2743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77840" y="274320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12101E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743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Details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778240" y="274320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12101E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2743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88920" y="288036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29CC2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063240" y="2514600"/>
            <a:ext cx="457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routerLink</a:t>
            </a:r>
            <a:endParaRPr lang="en-US" sz="100" dirty="0"/>
          </a:p>
        </p:txBody>
      </p:sp>
      <p:sp>
        <p:nvSpPr>
          <p:cNvPr id="22" name="Text 20"/>
          <p:cNvSpPr/>
          <p:nvPr/>
        </p:nvSpPr>
        <p:spPr>
          <a:xfrm>
            <a:off x="5257800" y="2377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/products/:id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288036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29CC2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26680" y="288036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29CC2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657600" y="420624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12101E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42062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List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26480" y="420624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12101E"/>
          </a:solidFill>
          <a:ln w="19050">
            <a:solidFill>
              <a:srgbClr val="A29C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42062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 (**)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reachable from the nav bar on every page · wildcard ** catches anything else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Routing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41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38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82163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287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0412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45375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86623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27871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69119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10367" y="457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3736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502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234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exercise: get lost, then get home.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2286000"/>
            <a:ext cx="9875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a nonsense URL like /watch-now and confirm NotFoundComponent renders via the ** wildcard.</a:t>
            </a:r>
            <a:endParaRPr lang="en-US" sz="16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takeMeHome() on NotFoundComponent — it uses Router.navigate(['/']), not routerLink.</a:t>
            </a:r>
            <a:endParaRPr lang="en-US" sz="16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own button anywhere that calls router.navigate(['/profile']) to feel the difference.</a:t>
            </a:r>
            <a:endParaRPr lang="en-US" sz="16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Reveal: compare against the real not-found.component.ts implementation.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Routing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41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— 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607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map a URL path to a component, in app.routes.ts</a:t>
            </a:r>
            <a:endParaRPr lang="en-US" sz="165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&lt;router-outlet /&gt; is where the matched component renders</a:t>
            </a:r>
            <a:endParaRPr lang="en-US" sz="165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routerLink navigates declaratively; Router.navigate() does it from code</a:t>
            </a:r>
            <a:endParaRPr lang="en-US" sz="1650" dirty="0"/>
          </a:p>
          <a:p>
            <a:pPr algn="l" marL="228600" indent="-228600"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:id captures a URL segment; ActivatedRoute reads it back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Routing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41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B7185">
              <a:alpha val="16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502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"My List" page — on your own.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 and navbar link already exist: /favorites, "My List" — your job is the page content.</a:t>
            </a:r>
            <a:endParaRPr lang="en-US" sz="155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binding: reuse the product card pattern to render each favorited title.</a:t>
            </a:r>
            <a:endParaRPr lang="en-US" sz="155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Pipes: show price with currency and "favorited on" with date.</a:t>
            </a:r>
            <a:endParaRPr lang="en-US" sz="155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Routing: each card links back to its own /products/:id Title Details page.</a:t>
            </a:r>
            <a:endParaRPr lang="en-US" sz="155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reuse the stockStatus pipe here too, exactly as on Browse.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41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"done" looks like — the real page.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state: a friendly message + a link back to Browse (see screenshot).</a:t>
            </a:r>
            <a:endParaRPr lang="en-US" sz="145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state: each card shows name, price, stock status, and the date it was favorited.</a:t>
            </a:r>
            <a:endParaRPr lang="en-US" sz="145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"View details →" link on every card, using routerLink with the product id.</a:t>
            </a:r>
            <a:endParaRPr lang="en-US" sz="145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console errors, no broken routerLink — check both empty and populated states.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19088" y="1664208"/>
            <a:ext cx="5221224" cy="3986784"/>
          </a:xfrm>
          <a:prstGeom prst="roundRect">
            <a:avLst>
              <a:gd name="adj" fmla="val 1376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tmp/render/shots/favori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1737360"/>
            <a:ext cx="507492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src/app/pages/favorites/favorites.component.ts — the real, already-built solution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/ 41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B144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RECAP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just learned Angular by shipping it.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binding — {{ }}, [ ], ( ), [( )] — connecting TypeScript and the DOM, both ways.</a:t>
            </a:r>
            <a:endParaRPr lang="en-US" sz="16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— built-in formatting plus one custom business rule, stockStatus.</a:t>
            </a:r>
            <a:endParaRPr lang="en-US" sz="16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— routes, RouterOutlet, RouterLink, route params, and ActivatedRoute.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274320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12101E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0" y="33832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Forms</a:t>
            </a:r>
            <a:endParaRPr lang="en-US" sz="14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Dependency Injection</a:t>
            </a:r>
            <a:endParaRPr lang="en-US" sz="14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</a:t>
            </a:r>
            <a:endParaRPr lang="en-US" sz="14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in depth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9C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/ 41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Nightfall Stream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 Fundamentals Workshop</dc:title>
  <dc:subject>PptxGenJS Presentation</dc:subject>
  <dc:creator>Angular Fundamentals Workshop</dc:creator>
  <cp:lastModifiedBy>Angular Fundamentals Workshop</cp:lastModifiedBy>
  <cp:revision>1</cp:revision>
  <dcterms:created xsi:type="dcterms:W3CDTF">2026-08-24T15:54:04Z</dcterms:created>
  <dcterms:modified xsi:type="dcterms:W3CDTF">2026-08-24T15:54:04Z</dcterms:modified>
</cp:coreProperties>
</file>